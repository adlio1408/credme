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5303520" cy="36576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7D2FE"/>
                </a:solidFill>
              </a:defRPr>
            </a:pPr>
            <a:r>
              <a:t>SYNCHRONY HACKATHON SOLUTION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CredMe</a:t>
            </a:r>
          </a:p>
          <a:p>
            <a:pPr>
              <a:defRPr sz="2200" b="1">
                <a:solidFill>
                  <a:srgbClr val="A5B4FC"/>
                </a:solidFill>
              </a:defRPr>
            </a:pPr>
            <a:r>
              <a:t>Next-Gen Real-Time, Multi-Modal Credit Underwriting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Expanding financial inclusion for New-to-Credit (NTC) and Thin-File applicants via fused XGBoost credit scoring, real-time behavioral anomaly detection, alternative signals, and regulatory-grade explainability.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Problem Statement: Next-Gen Credit Intelligence | Submission Format: PPT / Pitch Deck</a:t>
            </a:r>
          </a:p>
          <a:p>
            <a:pPr>
              <a:defRPr sz="1200">
                <a:solidFill>
                  <a:srgbClr val="818CF8"/>
                </a:solidFill>
              </a:defRPr>
            </a:pPr>
            <a:r>
              <a:t>Candidate Roll Number: [Your Roll Number] | GitHub: https://github.com/ADlio1408/CredME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1. PROBLEM &amp;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Challenge: Breaking the Traditional Underwriting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Traditional Underwriting Bottlenecks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 The 'Thin-File' Penalty: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Millions of young, gig-economy, and new-to-credit individuals have no credit score (CreditScore = 0). Legacy systems treat 0 as 'toxic credit' and auto-decline them.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 Static &amp; Reactive Signals: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Bureau scores reflect historical payments from months ago. They fail to catch acute real-time distress or active fraud (e.g. sudden balance depletion, suspicious logins).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 The Black-Box Dilemma: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Modern ML/AI models are often rejected by risk &amp; compliance teams due to lack of auditability, regulatory transparency, and demographic bias.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The CredMe Solution Architecture</a:t>
            </a:r>
          </a:p>
          <a:p>
            <a:pPr>
              <a:spcBef>
                <a:spcPts val="1200"/>
              </a:spcBef>
              <a:defRPr b="1" sz="1200">
                <a:solidFill>
                  <a:srgbClr val="4F46E5"/>
                </a:solidFill>
              </a:defRPr>
            </a:pPr>
            <a:r>
              <a:t>✓  NTC-First Philosophy (Zero != Bad):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Thin-file applicants are routed into dedicated financial validation workflows. They can never be auto-declined on thin-file status alone.</a:t>
            </a:r>
          </a:p>
          <a:p>
            <a:pPr>
              <a:spcBef>
                <a:spcPts val="1200"/>
              </a:spcBef>
              <a:defRPr b="1" sz="1200">
                <a:solidFill>
                  <a:srgbClr val="4F46E5"/>
                </a:solidFill>
              </a:defRPr>
            </a:pPr>
            <a:r>
              <a:t>✓  Multi-Modal Decision Fusion: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Combines XGBoost credit scoring + IsolationForest transaction anomaly detection + Alternative data (RentPaymentConsistency).</a:t>
            </a:r>
          </a:p>
          <a:p>
            <a:pPr>
              <a:spcBef>
                <a:spcPts val="1200"/>
              </a:spcBef>
              <a:defRPr b="1" sz="1200">
                <a:solidFill>
                  <a:srgbClr val="4F46E5"/>
                </a:solidFill>
              </a:defRPr>
            </a:pPr>
            <a:r>
              <a:t>✓  Explainable &amp; Guardrailed AI: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Top-5 SHAP feature impact drivers (+/- percentages), four-fifths fairness audit, and plain-English narrative explanations with compliance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2.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Solving the Thin-File Dilemma: Fairness Without Compromising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8288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1. Intelligent Imputation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During training, CreditScore=0 is treated as missing rather than low credit, imputed using the median of creditworthy peers so the model never penalizes missing bureau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Dedicated Inference Routing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Thin-file applicants bypass standard credit thresholds and enter a holistic rule screen evaluating DTI, liquidity, income, and debt ratios. Thin-file alone cannot decline.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8288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3. Alternative Signal Ingestion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Accepts optional modern signals like RentPaymentConsistency (threshold &gt;= 0.70). Demonstrates pluggability of utility, telecom, and rent cashflow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3.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Full-Stack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56032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React 19 + Vite</a:t>
            </a:r>
            <a:br/>
            <a:br/>
            <a:r>
              <a:t>• Real-time applicant form</a:t>
            </a:r>
            <a:br/>
            <a:r>
              <a:t>• SHAP breakdown cards</a:t>
            </a:r>
            <a:br/>
            <a:r>
              <a:t>• Live transaction visualizer</a:t>
            </a:r>
            <a:br/>
            <a:r>
              <a:t>• Interactive scenario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25603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Python API Service</a:t>
            </a:r>
            <a:br/>
            <a:br/>
            <a:r>
              <a:t>• Pydantic input validation</a:t>
            </a:r>
            <a:br/>
            <a:r>
              <a:t>• Role-based API Key Auth</a:t>
            </a:r>
            <a:br/>
            <a:r>
              <a:t>• WebSocket streaming feed</a:t>
            </a:r>
            <a:br/>
            <a:r>
              <a:t>• Modular routers &amp;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5603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ML &amp; 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XGBoost + IsolationForest</a:t>
            </a:r>
            <a:br/>
            <a:br/>
            <a:r>
              <a:t>• SHAP TreeExplainer</a:t>
            </a:r>
            <a:br/>
            <a:r>
              <a:t>• Real-time behavioral scoring</a:t>
            </a:r>
            <a:br/>
            <a:r>
              <a:t>• LLM narrative scaffold</a:t>
            </a:r>
            <a:br/>
            <a:r>
              <a:t>• Regex compliance guardrails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280160"/>
            <a:ext cx="256032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&amp;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Docker &amp; Persistence</a:t>
            </a:r>
            <a:br/>
            <a:br/>
            <a:r>
              <a:t>• Docker Compose multi-service</a:t>
            </a:r>
            <a:br/>
            <a:r>
              <a:t>• Joblib model artifacts</a:t>
            </a:r>
            <a:br/>
            <a:r>
              <a:t>• CSV historical baselines</a:t>
            </a:r>
            <a:br/>
            <a:r>
              <a:t>• Prepared for pgvector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4. UNDERWRITING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Multi-Modal Decision Fusion: Credit + Behavioral +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832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1: Credit ML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XGBoost evaluates debt-to-income, loan duration, income stability, and credit history.</a:t>
            </a:r>
            <a:br/>
            <a:br/>
            <a:r>
              <a:t>Outputs approval probability (P &gt;= 0.70 for APPROVE threshold).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3832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2: Behavioral Anomaly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IsolationForest scores live transactions against account baselines:</a:t>
            </a:r>
            <a:br/>
            <a:br/>
            <a:r>
              <a:t>• Transaction-to-balance ratio</a:t>
            </a:r>
            <a:br/>
            <a:r>
              <a:t>• Rapid login spikes</a:t>
            </a:r>
            <a:br/>
            <a:r>
              <a:t>• Velocity anomalies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3832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3: Decision Fusion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Fuses credit probability + behavioral risk + rule screen:</a:t>
            </a:r>
            <a:br/>
            <a:br/>
            <a:r>
              <a:t>• High credit + High anomaly -&gt; REVIEW</a:t>
            </a:r>
            <a:br/>
            <a:r>
              <a:t>• Thin-file + Good DTI -&gt; APPROVE</a:t>
            </a:r>
            <a:br/>
            <a:r>
              <a:t>• Thin-file + Bad rent -&gt;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</a:defRPr>
            </a:pPr>
            <a:r>
              <a:t>⚡ Real-Time Streaming Ingestion (POST /stream/transaction &amp; WS /stream/live)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Allows underwriting underwriters and fraud engines to monitor incoming customer transactions live via WebSockets. Each transaction updates the customer's behavioral baseline dynamically in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5. TRUST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Responsible AI: SHAP Explainability &amp; Disparate Impact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SHAP Decision Factor Attribution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•  Mathematical Transparency: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Calculates Shapley values for every single prediction using TreeExplainer, isolating the exact marginal contribution of each feature.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•  Top-5 Normalized Impact Drivers: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Presents normalized percentage contributions (e.g. Total Debt-to-Income: -42.3%, Loan Duration: +18.5%) so applicants understand why a decision was reached.</a:t>
            </a:r>
          </a:p>
          <a:p>
            <a:pPr>
              <a:spcBef>
                <a:spcPts val="1000"/>
              </a:spcBef>
              <a:defRPr b="1" sz="1200">
                <a:solidFill>
                  <a:srgbClr val="0F172A"/>
                </a:solidFill>
              </a:defRPr>
            </a:pPr>
            <a:r>
              <a:t>•  Adverse Action Transparency: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Directly fulfills FCRA and CFPB requirements for adverse action notices without manual underwriter burden.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Four-Fifths Fairness Audit (EEOC Standard)</a:t>
            </a:r>
          </a:p>
          <a:p>
            <a:pPr>
              <a:spcBef>
                <a:spcPts val="1000"/>
              </a:spcBef>
              <a:defRPr b="1" sz="1200">
                <a:solidFill>
                  <a:srgbClr val="7C3AED"/>
                </a:solidFill>
              </a:defRPr>
            </a:pPr>
            <a:r>
              <a:t>✓  Automated Disparate Impact Screening: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Audits credit model approvals across Age groups (&lt;25, 25-39, 40-59, 60+) and Marital Status via `backend/fairness_audit.py`.</a:t>
            </a:r>
          </a:p>
          <a:p>
            <a:pPr>
              <a:spcBef>
                <a:spcPts val="1000"/>
              </a:spcBef>
              <a:defRPr b="1" sz="1200">
                <a:solidFill>
                  <a:srgbClr val="7C3AED"/>
                </a:solidFill>
              </a:defRPr>
            </a:pPr>
            <a:r>
              <a:t>✓  Live Audit Endpoint (`GET /fairness/report`):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Publishes pre-computed demographic parity metrics, disparate impact ratios, and reference distributions directly via the API.</a:t>
            </a:r>
          </a:p>
          <a:p>
            <a:pPr>
              <a:spcBef>
                <a:spcPts val="1000"/>
              </a:spcBef>
              <a:defRPr b="1" sz="1200">
                <a:solidFill>
                  <a:srgbClr val="7C3AED"/>
                </a:solidFill>
              </a:defRPr>
            </a:pPr>
            <a:r>
              <a:t>✓  Zero Bias Amplification: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Analysis confirms predicted approval rates mirror actual historical baseline rates, validating that the ML model does not amplify historical biases.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6. GENERATIVE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Generative AI Narrative Layer &amp; Regulatory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8288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1. Strict Decoupling (No Autonomous LLM Decisions)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The LLM never makes credit or risk decisions. It strictly acts as a natural language synthesizer, translating already-computed SHAP values and rule outputs into human-readable customer narratives (`POST /explain/narrative`).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2. Multi-Tier Compliance Guardrails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Automated pre/post-generation regex and policy filters screen output for prohibited protected characteristics (race, religion, gender, medical status) and guarantee no false commitment to overturn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8288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Offline-First Template Fallback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If no OpenAI API key is provided (`CREDME_LLM_API_KEY`), the engine automatically switches to a deterministic template fallback (`source: template_fallback`), enabling secure, cost-free local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7.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Performance, Validation &amp; Test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93.07%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Model Accuracy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XGBoost on 20% held-out 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0.9791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ROC-AUC Score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Superior discriminative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0.8526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F1 Score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Harmonic mean of precision &amp;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0.0486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Brier Loss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Well-calibrated probability estimates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6984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Comprehensive Automated Test Suite (`pytest backend/tests/ -v`)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Thin-File Protection Guarantee: Verified with `test_thin_file_never_auto_declines` ensuring zero-score applicants are never rejected solely on missing credit history.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Behavioral Anomaly Escalation: Verified that extreme transaction-to-balance spikes escalate borderline approvals to human `REVIEW`.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Security &amp; Auth Bounds: Role-scoped test assertions verifying 401 on missing keys and 403 on insufficient privilege scopes (Applicant vs Admin).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End-to-End Decision Consistency: Automated regression tests covering all multi-modal fusion branches across synthetic customer archetypes.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8. PRODUCTION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Discipline, Cloud Readiness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56032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Role-scoped API keys (Applicant vs Admin)</a:t>
            </a:r>
            <a:br/>
            <a:r>
              <a:t>• Strict Pydantic request schema validation</a:t>
            </a:r>
            <a:br/>
            <a:r>
              <a:t>• No hardcoded secrets (env configuration)</a:t>
            </a:r>
            <a:br/>
            <a:r>
              <a:t>• Non-root Docker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25603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Modular domain services (Credit, Behavior, Fusion, LLM)</a:t>
            </a:r>
            <a:br/>
            <a:r>
              <a:t>• API-First design with OpenAPI autodocs</a:t>
            </a:r>
            <a:br/>
            <a:r>
              <a:t>• Git version control with clean commit history</a:t>
            </a:r>
            <a:br/>
            <a:r>
              <a:t>• Structured error responses &amp;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Containerization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Multi-stage Dockerfiles for backend and frontend</a:t>
            </a:r>
            <a:br/>
            <a:r>
              <a:t>• Single command launch: `docker compose up --build`</a:t>
            </a:r>
            <a:br/>
            <a:r>
              <a:t>• Isolated network bridging</a:t>
            </a:r>
            <a:br/>
            <a:r>
              <a:t>• Production-ready Nginx frontend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8016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280160"/>
            <a:ext cx="25603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AWS ECS/Fargate container orchestration</a:t>
            </a:r>
            <a:br/>
            <a:r>
              <a:t>• AWS Bedrock / OpenAI LLM integration</a:t>
            </a:r>
            <a:br/>
            <a:r>
              <a:t>• PostgreSQL + pgvector for semantic search</a:t>
            </a:r>
            <a:br/>
            <a:r>
              <a:t>• CloudWatch telemetry &amp; audit trails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9. 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Roadmap: Scaling to Enterprise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8288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Phase 1: Semantic Underwriting Search (pgvector)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Index historical credit applications and underwriter notes into PostgreSQL pgvector embeddings. Allows loan officers to query 'Find similar NTC gig-worker applications approved in Q3' for contextual precedence.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Phase 2: Open Banking / Account Aggregator (AA)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Connect real-time Open Banking APIs (e.g. Plaid / India Stack AA) to ingest continuous cashflow, GST filings, and merchant receipts directly into behavioral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8288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Phase 3: Autonomous Underwriting Agents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Deploy LangGraph / Bedrock multi-agent workflows that can autonomously request clarifying documents from applicants and cross-verify income before human final signoff.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CredMe Stands Out</a:t>
            </a:r>
          </a:p>
          <a:p>
            <a:pPr>
              <a:spcBef>
                <a:spcPts val="1200"/>
              </a:spcBef>
              <a:defRPr b="1" sz="1300">
                <a:solidFill>
                  <a:srgbClr val="A5B4FC"/>
                </a:solidFill>
              </a:defRPr>
            </a:pPr>
            <a:r>
              <a:t>✓  Solves the Exact Problem Statement: 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Purpose-built multi-modal engine expanding credit access to thin-file applicants while detecting live fraud.</a:t>
            </a:r>
          </a:p>
          <a:p>
            <a:pPr>
              <a:spcBef>
                <a:spcPts val="1200"/>
              </a:spcBef>
              <a:defRPr b="1" sz="1300">
                <a:solidFill>
                  <a:srgbClr val="A5B4FC"/>
                </a:solidFill>
              </a:defRPr>
            </a:pPr>
            <a:r>
              <a:t>✓  High-Discipline Engineering: 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Clean modular FastAPI code, Pydantic validation, role-based auth, Dockerized environment, and automated test suite.</a:t>
            </a:r>
          </a:p>
          <a:p>
            <a:pPr>
              <a:spcBef>
                <a:spcPts val="1200"/>
              </a:spcBef>
              <a:defRPr b="1" sz="1300">
                <a:solidFill>
                  <a:srgbClr val="A5B4FC"/>
                </a:solidFill>
              </a:defRPr>
            </a:pPr>
            <a:r>
              <a:t>✓  Responsible &amp; Explainable AI: 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Mathematical SHAP feature attributions, disparate impact audits, and guardrailed generative explanations.</a:t>
            </a:r>
          </a:p>
          <a:p>
            <a:pPr>
              <a:spcBef>
                <a:spcPts val="1200"/>
              </a:spcBef>
              <a:defRPr b="1" sz="1300">
                <a:solidFill>
                  <a:srgbClr val="A5B4FC"/>
                </a:solidFill>
              </a:defRPr>
            </a:pPr>
            <a:r>
              <a:t>✓  Working End-to-End Prototype: 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Interactive React 19 UI, live WebSocket streaming, and verified reproducible setup in &lt; 5 minutes.</a:t>
            </a:r>
          </a:p>
          <a:p>
            <a:pPr>
              <a:spcBef>
                <a:spcPts val="1800"/>
              </a:spcBef>
              <a:defRPr sz="1400" b="1">
                <a:solidFill>
                  <a:srgbClr val="10B981"/>
                </a:solidFill>
              </a:defRPr>
            </a:pPr>
            <a:r>
              <a:t>Thank you! Ready for live demonstration &amp; pitch during campus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